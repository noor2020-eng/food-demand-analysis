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افتتاحية: سنعرض كيف تساعد البيانات في الانتقال من التقدير الشخصي إلى قرارات شراء قابلة للقياس.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اذكر أن الملفات الخام محفوظة دون تعديل ولا ينبغي رفعها إلى مستودع عام.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بأن التحليل يساعد على تحديد الأولويات، لكن تحديد كمية شراء مثلى يحتاج بيانات المخزون والهدر ومهلة التوريد.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تحليل الطلب لشركة توصيل وجبات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المشكلة: هدر في بعض المراكز ونفاد وجبات في مراكز أخرى.</a:t>
            </a:r>
          </a:p>
          <a:p>
            <a:pPr>
              <a:spcAft>
                <a:spcPts val="1400"/>
              </a:spcAft>
              <a:defRPr sz="2000"/>
            </a:pPr>
            <a:r>
              <a:t>الهدف: فهم الطلب والعروض والخصومات وتذبذب الوجبات لدعم قرارات الشراء.</a:t>
            </a:r>
          </a:p>
          <a:p>
            <a:pPr>
              <a:spcAft>
                <a:spcPts val="1400"/>
              </a:spcAft>
              <a:defRPr sz="2000"/>
            </a:pPr>
            <a:r>
              <a:t>البيانات مجهولة الهوية، والأسابيع أرقام وليست تواريخ تقويمية.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البيانات وفحوص الجودة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ملف التدريب: 456,548 صفًا عبر الأسابيع 1–145.</a:t>
            </a:r>
          </a:p>
          <a:p>
            <a:pPr>
              <a:spcAft>
                <a:spcPts val="1400"/>
              </a:spcAft>
              <a:defRPr sz="2000"/>
            </a:pPr>
            <a:r>
              <a:t>إجمالي الطلبات: 119,557,485.</a:t>
            </a:r>
          </a:p>
          <a:p>
            <a:pPr>
              <a:spcAft>
                <a:spcPts val="1400"/>
              </a:spcAft>
              <a:defRPr sz="2000"/>
            </a:pPr>
            <a:r>
              <a:t>الدمج مع ملفات الوجبات والمراكز حافظ على الصفوف ومجموع الطلبات.</a:t>
            </a:r>
          </a:p>
          <a:p>
            <a:pPr>
              <a:spcAft>
                <a:spcPts val="1400"/>
              </a:spcAft>
              <a:defRPr sz="2000"/>
            </a:pPr>
            <a:r>
              <a:t>سجلات سعر البيع فوق السعر الأساسي: 116,101؛ لم تُحذف آليًا.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الطلب يتركز في فئات ووجبات محددة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الفئة الأولى: Beverages — 40,480,525 طلبًا (33.9%).</a:t>
            </a:r>
          </a:p>
          <a:p>
            <a:pPr>
              <a:spcAft>
                <a:spcPts val="1400"/>
              </a:spcAft>
              <a:defRPr sz="2000"/>
            </a:pPr>
            <a:r>
              <a:t>الفئة الثانية: Rice Bowl — 20,874,063 طلبًا (17.5%).</a:t>
            </a:r>
          </a:p>
          <a:p>
            <a:pPr>
              <a:spcAft>
                <a:spcPts val="1400"/>
              </a:spcAft>
              <a:defRPr sz="2000"/>
            </a:pPr>
            <a:r>
              <a:t>أعلى وجبة حسب المعرّف: 2290 — 9,770,303 طلبًا.</a:t>
            </a:r>
          </a:p>
        </p:txBody>
      </p:sp>
      <p:pic>
        <p:nvPicPr>
          <p:cNvPr id="4" name="Picture 3" descr="categor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الطلب يتغير من أسبوع لآخر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متوسط الطلب الأسبوعي: 824,534.</a:t>
            </a:r>
          </a:p>
          <a:p>
            <a:pPr>
              <a:spcAft>
                <a:spcPts val="1400"/>
              </a:spcAft>
              <a:defRPr sz="2000"/>
            </a:pPr>
            <a:r>
              <a:t>أدنى أسبوع: 62 (380,065).</a:t>
            </a:r>
          </a:p>
          <a:p>
            <a:pPr>
              <a:spcAft>
                <a:spcPts val="1400"/>
              </a:spcAft>
              <a:defRPr sz="2000"/>
            </a:pPr>
            <a:r>
              <a:t>أعلى أسبوع: 48 (1,303,457).</a:t>
            </a:r>
          </a:p>
          <a:p>
            <a:pPr>
              <a:spcAft>
                <a:spcPts val="1400"/>
              </a:spcAft>
              <a:defRPr sz="2000"/>
            </a:pPr>
            <a:r>
              <a:t>غياب التاريخ الحقيقي يمنع ربط القمم بمواسم تقويمية محددة.</a:t>
            </a:r>
          </a:p>
        </p:txBody>
      </p:sp>
      <p:pic>
        <p:nvPicPr>
          <p:cNvPr id="4" name="Picture 3" descr="week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العروض مرتبطة بمتوسط طلب أعلى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البريد الترويجي: فرق نسبي 147.8% في المقارنة الرصدية.</a:t>
            </a:r>
          </a:p>
          <a:p>
            <a:pPr>
              <a:spcAft>
                <a:spcPts val="1400"/>
              </a:spcAft>
              <a:defRPr sz="2000"/>
            </a:pPr>
            <a:r>
              <a:t>الظهور في الصفحة الرئيسية: فرق نسبي 146.5%.</a:t>
            </a:r>
          </a:p>
          <a:p>
            <a:pPr>
              <a:spcAft>
                <a:spcPts val="1400"/>
              </a:spcAft>
              <a:defRPr sz="2000"/>
            </a:pPr>
            <a:r>
              <a:t>اختبار Mann–Whitney دال إحصائيًا (p&lt;0.001) في المقارنتين.</a:t>
            </a:r>
          </a:p>
          <a:p>
            <a:pPr>
              <a:spcAft>
                <a:spcPts val="1400"/>
              </a:spcAft>
              <a:defRPr sz="2000"/>
            </a:pPr>
            <a:r>
              <a:t>هذه النتائج لا تثبت السببية؛ قد تتداخل العروض مع الخصومات واختيار الوجبات.</a:t>
            </a:r>
          </a:p>
        </p:txBody>
      </p:sp>
      <p:pic>
        <p:nvPicPr>
          <p:cNvPr id="4" name="Picture 3" descr="email_promoti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الخصم وتذبذب الطلب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ارتباط Spearman بين الخصم والطلب: ρ=0.122 (p&lt;0.001).</a:t>
            </a:r>
          </a:p>
          <a:p>
            <a:pPr>
              <a:spcAft>
                <a:spcPts val="1400"/>
              </a:spcAft>
              <a:defRPr sz="2000"/>
            </a:pPr>
            <a:r>
              <a:t>أعلى معامل تذبذب: الوجبة 2444 (CV=1.21).</a:t>
            </a:r>
          </a:p>
          <a:p>
            <a:pPr>
              <a:spcAft>
                <a:spcPts val="1400"/>
              </a:spcAft>
              <a:defRPr sz="2000"/>
            </a:pPr>
            <a:r>
              <a:t>الأولوية للمخزون يجب أن تجمع بين حجم الطلب والتذبذب ومعلومات الهدر والنفاد.</a:t>
            </a:r>
          </a:p>
        </p:txBody>
      </p:sp>
      <p:pic>
        <p:nvPicPr>
          <p:cNvPr id="4" name="Picture 3" descr="meal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12064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التوصيات والحدود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1) تجربة شراء أسبوعية للوجبات ذات الطلب المرتفع والمتذبذب؛ قِس الهدر والنفاد.</a:t>
            </a:r>
          </a:p>
          <a:p>
            <a:pPr>
              <a:spcAft>
                <a:spcPts val="1400"/>
              </a:spcAft>
              <a:defRPr sz="2000"/>
            </a:pPr>
            <a:r>
              <a:t>2) اختبار العروض بمجموعة ضابطة؛ قِس الزيادة الصافية في الإيراد والهامش.</a:t>
            </a:r>
          </a:p>
          <a:p>
            <a:pPr>
              <a:spcAft>
                <a:spcPts val="1400"/>
              </a:spcAft>
              <a:defRPr sz="2000"/>
            </a:pPr>
            <a:r>
              <a:t>3) راجع سجلات السعر فوق السعر الأساسي، وصحّح المؤكد منها فقط.</a:t>
            </a:r>
          </a:p>
          <a:p>
            <a:pPr>
              <a:spcAft>
                <a:spcPts val="1400"/>
              </a:spcAft>
              <a:defRPr sz="2000"/>
            </a:pPr>
            <a:r>
              <a:t>الحدود: لا توجد تواريخ حقيقية أو بيانات مخزون/هدر، والارتباط لا يثبت السببية.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